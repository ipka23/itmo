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 baseline="-250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 baseline="-250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 baseline="-250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 baseline="-250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2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C0980B9-0AD2-1D42-BB92-459CE876B2A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08000" y="200025"/>
            <a:ext cx="10363200" cy="704850"/>
          </a:xfrm>
          <a:effectLst>
            <a:outerShdw algn="ctr" rotWithShape="0">
              <a:schemeClr val="bg2"/>
            </a:outerShdw>
          </a:effectLst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altLang="ru-RU" noProof="0" dirty="0"/>
              <a:t>Образец заголовка</a:t>
            </a:r>
            <a:endParaRPr lang="en-US" altLang="ru-RU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9DBE29-0C76-18CC-E12F-FD713C5F490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08000" y="762000"/>
            <a:ext cx="10363200" cy="685800"/>
          </a:xfrm>
          <a:effectLst>
            <a:outerShdw algn="ctr" rotWithShape="0">
              <a:schemeClr val="bg2"/>
            </a:outerShdw>
          </a:effectLst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altLang="ru-RU" noProof="0"/>
              <a:t>Образец подзаголовка</a:t>
            </a:r>
            <a:endParaRPr lang="en-US" altLang="ru-RU" noProof="0"/>
          </a:p>
        </p:txBody>
      </p:sp>
    </p:spTree>
    <p:extLst>
      <p:ext uri="{BB962C8B-B14F-4D97-AF65-F5344CB8AC3E}">
        <p14:creationId xmlns:p14="http://schemas.microsoft.com/office/powerpoint/2010/main" val="388584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F3FC77-C9E3-CB30-74F6-2CD33CE19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F0912B-6900-1368-6064-33DFF71E6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75434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221F12-A63B-205C-9CA1-DCCE87BA2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7FAEB8-E842-4A3D-39EF-25E862F5D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507867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3DB684-1A64-F836-2A0D-414FD4387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F302CF-395A-9FD8-AE00-E906C6FFA4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2400" y="2590800"/>
            <a:ext cx="4775200" cy="3733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640880-51AC-8138-45B5-7C1128CF2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800" y="2590800"/>
            <a:ext cx="4775200" cy="3733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71051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E508CC-2A99-70C0-F063-C5A996331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84EC63-D8D2-AEFC-BC6C-AD8E9CB35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FC231E-F290-8E35-117A-947132A7F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12CB9BE-6001-8042-E723-AFD1878C2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62F126-219C-F9DD-2540-172FEB30A7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72075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F4C0C-7143-6912-844D-872BE568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64681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F4C0C-7143-6912-844D-872BE5686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17" y="150963"/>
            <a:ext cx="9753600" cy="715963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93014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455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E7D704-611F-FB92-AA47-007DD7066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8742C1-3463-6CCF-ABB7-FB5D4B3D2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0B85D3-E33C-65BE-8A39-D1C9B3B1B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199304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E781B8-61F9-9925-D71F-1BC772F5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1115FB3-E9F7-7C8E-382B-81CF3A25FC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D9BCF5-193B-4C12-5EDA-921A8E662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51254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387EB-965F-3B15-76E9-AC5DA114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C7AB424-936A-BE78-8117-3C44F242D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766156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21EDEAA-B62B-0F7F-DCF7-BD7C5C640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37600" y="1600200"/>
            <a:ext cx="2438400" cy="47244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A3E31F0-144C-F9FB-7230-E0740675D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2400" y="1600200"/>
            <a:ext cx="7112000" cy="47244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2302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C722CEE-C404-4F85-51AA-E082E4034A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22400" y="1600201"/>
            <a:ext cx="9753600" cy="71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en-US" altLang="ru-RU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2BE9A62-FDBB-9C95-5FC7-0A819D806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22400" y="2590800"/>
            <a:ext cx="97536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07395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705" r:id="rId7"/>
    <p:sldLayoutId id="2147483699" r:id="rId8"/>
    <p:sldLayoutId id="2147483700" r:id="rId9"/>
    <p:sldLayoutId id="2147483701" r:id="rId10"/>
    <p:sldLayoutId id="2147483702" r:id="rId11"/>
    <p:sldLayoutId id="2147483703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2557F6-D070-5FC0-2661-21AE5EC78024}"/>
              </a:ext>
            </a:extLst>
          </p:cNvPr>
          <p:cNvSpPr txBox="1"/>
          <p:nvPr/>
        </p:nvSpPr>
        <p:spPr>
          <a:xfrm>
            <a:off x="1191768" y="82517"/>
            <a:ext cx="9607296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4000" b="1" dirty="0">
                <a:solidFill>
                  <a:srgbClr val="000000"/>
                </a:solidFill>
              </a:rPr>
              <a:t>Изоляция приложений в бортовых вычислительных системах по стандарту ARINC 653</a:t>
            </a:r>
          </a:p>
        </p:txBody>
      </p:sp>
    </p:spTree>
    <p:extLst>
      <p:ext uri="{BB962C8B-B14F-4D97-AF65-F5344CB8AC3E}">
        <p14:creationId xmlns:p14="http://schemas.microsoft.com/office/powerpoint/2010/main" val="2212739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70FB0C-1DFC-B53B-67DB-DA74DA382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</a:rPr>
              <a:t>Стандарт </a:t>
            </a:r>
            <a:r>
              <a:rPr lang="en-US" dirty="0">
                <a:solidFill>
                  <a:srgbClr val="000000"/>
                </a:solidFill>
              </a:rPr>
              <a:t>ARINC 653 </a:t>
            </a:r>
            <a:endParaRPr lang="ru-RU" dirty="0">
              <a:solidFill>
                <a:srgbClr val="0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5B1FF4-2B5B-A303-D7CD-8A172B57AD41}"/>
              </a:ext>
            </a:extLst>
          </p:cNvPr>
          <p:cNvSpPr txBox="1"/>
          <p:nvPr/>
        </p:nvSpPr>
        <p:spPr>
          <a:xfrm>
            <a:off x="154317" y="1405535"/>
            <a:ext cx="64750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dirty="0"/>
              <a:t>ARINC 653 — это международный стандарт для операционных систем реального времени (ОСРВ), используемых в авионике. Он определяет интерфейс</a:t>
            </a:r>
            <a:r>
              <a:rPr lang="en-US" dirty="0"/>
              <a:t> </a:t>
            </a:r>
            <a:r>
              <a:rPr lang="ru-RU" dirty="0"/>
              <a:t>между прикладным ПО и аппаратным обеспечением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827BF30-8C7D-6976-31AE-5176342B6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6584" y="1405535"/>
            <a:ext cx="446918" cy="44691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6F9894D-808A-1BB7-43A8-022937A8F309}"/>
              </a:ext>
            </a:extLst>
          </p:cNvPr>
          <p:cNvSpPr txBox="1"/>
          <p:nvPr/>
        </p:nvSpPr>
        <p:spPr>
          <a:xfrm>
            <a:off x="154317" y="3021362"/>
            <a:ext cx="52406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APEX (</a:t>
            </a:r>
            <a:r>
              <a:rPr lang="en-US" dirty="0" err="1"/>
              <a:t>APplication</a:t>
            </a:r>
            <a:r>
              <a:rPr lang="en-US" dirty="0"/>
              <a:t> </a:t>
            </a:r>
            <a:r>
              <a:rPr lang="en-US" dirty="0" err="1"/>
              <a:t>EXecutive</a:t>
            </a:r>
            <a:r>
              <a:rPr lang="en-US" dirty="0"/>
              <a:t>)</a:t>
            </a:r>
            <a:r>
              <a:rPr lang="ru-RU" dirty="0"/>
              <a:t> – это</a:t>
            </a:r>
            <a:r>
              <a:rPr lang="en-US" dirty="0"/>
              <a:t> </a:t>
            </a:r>
            <a:r>
              <a:rPr lang="ru-RU" dirty="0"/>
              <a:t>API для взаимодействия прикладного ПО и ОС в авионике.</a:t>
            </a:r>
          </a:p>
        </p:txBody>
      </p:sp>
    </p:spTree>
    <p:extLst>
      <p:ext uri="{BB962C8B-B14F-4D97-AF65-F5344CB8AC3E}">
        <p14:creationId xmlns:p14="http://schemas.microsoft.com/office/powerpoint/2010/main" val="3021879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ED6A1E-7ACE-8F40-BB32-EA340E90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ОСРВ на базе ARINC 653</a:t>
            </a: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A4696FC-DA6A-7FF1-C0AC-4DD64E77F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74" y="1639689"/>
            <a:ext cx="10864051" cy="450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01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9998F8-1D77-5182-BFF1-92B684431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к изоляции из ARINC 653</a:t>
            </a:r>
          </a:p>
        </p:txBody>
      </p:sp>
    </p:spTree>
    <p:extLst>
      <p:ext uri="{BB962C8B-B14F-4D97-AF65-F5344CB8AC3E}">
        <p14:creationId xmlns:p14="http://schemas.microsoft.com/office/powerpoint/2010/main" val="4231999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A0133A-34CD-740B-6FDD-8E2FD573E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Планирование выполнения разделов</a:t>
            </a:r>
          </a:p>
        </p:txBody>
      </p:sp>
    </p:spTree>
    <p:extLst>
      <p:ext uri="{BB962C8B-B14F-4D97-AF65-F5344CB8AC3E}">
        <p14:creationId xmlns:p14="http://schemas.microsoft.com/office/powerpoint/2010/main" val="3710147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7DBDEC-922D-C0E2-98EF-9967641A3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Взаимодействие между разделами</a:t>
            </a:r>
          </a:p>
        </p:txBody>
      </p:sp>
    </p:spTree>
    <p:extLst>
      <p:ext uri="{BB962C8B-B14F-4D97-AF65-F5344CB8AC3E}">
        <p14:creationId xmlns:p14="http://schemas.microsoft.com/office/powerpoint/2010/main" val="3522239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ED28B-FE30-D980-02BD-B3ABDF165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ошибок</a:t>
            </a:r>
          </a:p>
        </p:txBody>
      </p:sp>
    </p:spTree>
    <p:extLst>
      <p:ext uri="{BB962C8B-B14F-4D97-AF65-F5344CB8AC3E}">
        <p14:creationId xmlns:p14="http://schemas.microsoft.com/office/powerpoint/2010/main" val="2078582433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-templat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ru-RU" sz="24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ru-RU" sz="24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powerpoint-template 1">
        <a:dk1>
          <a:srgbClr val="4D4D4D"/>
        </a:dk1>
        <a:lt1>
          <a:srgbClr val="FFFFFF"/>
        </a:lt1>
        <a:dk2>
          <a:srgbClr val="4D4D4D"/>
        </a:dk2>
        <a:lt2>
          <a:srgbClr val="800000"/>
        </a:lt2>
        <a:accent1>
          <a:srgbClr val="FF9933"/>
        </a:accent1>
        <a:accent2>
          <a:srgbClr val="009900"/>
        </a:accent2>
        <a:accent3>
          <a:srgbClr val="FFFFFF"/>
        </a:accent3>
        <a:accent4>
          <a:srgbClr val="404040"/>
        </a:accent4>
        <a:accent5>
          <a:srgbClr val="FFCAAD"/>
        </a:accent5>
        <a:accent6>
          <a:srgbClr val="008A00"/>
        </a:accent6>
        <a:hlink>
          <a:srgbClr val="3366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 2">
        <a:dk1>
          <a:srgbClr val="4D4D4D"/>
        </a:dk1>
        <a:lt1>
          <a:srgbClr val="FFFFFF"/>
        </a:lt1>
        <a:dk2>
          <a:srgbClr val="4D4D4D"/>
        </a:dk2>
        <a:lt2>
          <a:srgbClr val="0C209B"/>
        </a:lt2>
        <a:accent1>
          <a:srgbClr val="2167BF"/>
        </a:accent1>
        <a:accent2>
          <a:srgbClr val="C60C0D"/>
        </a:accent2>
        <a:accent3>
          <a:srgbClr val="FFFFFF"/>
        </a:accent3>
        <a:accent4>
          <a:srgbClr val="404040"/>
        </a:accent4>
        <a:accent5>
          <a:srgbClr val="ABB8DC"/>
        </a:accent5>
        <a:accent6>
          <a:srgbClr val="B30A0B"/>
        </a:accent6>
        <a:hlink>
          <a:srgbClr val="1FAAE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 3">
        <a:dk1>
          <a:srgbClr val="4D4D4D"/>
        </a:dk1>
        <a:lt1>
          <a:srgbClr val="FFFFFF"/>
        </a:lt1>
        <a:dk2>
          <a:srgbClr val="4D4D4D"/>
        </a:dk2>
        <a:lt2>
          <a:srgbClr val="05D3FC"/>
        </a:lt2>
        <a:accent1>
          <a:srgbClr val="1C50E2"/>
        </a:accent1>
        <a:accent2>
          <a:srgbClr val="0390F5"/>
        </a:accent2>
        <a:accent3>
          <a:srgbClr val="FFFFFF"/>
        </a:accent3>
        <a:accent4>
          <a:srgbClr val="404040"/>
        </a:accent4>
        <a:accent5>
          <a:srgbClr val="ABB3EE"/>
        </a:accent5>
        <a:accent6>
          <a:srgbClr val="0282DE"/>
        </a:accent6>
        <a:hlink>
          <a:srgbClr val="5E9AF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 4">
        <a:dk1>
          <a:srgbClr val="4D4D4D"/>
        </a:dk1>
        <a:lt1>
          <a:srgbClr val="FFFFFF"/>
        </a:lt1>
        <a:dk2>
          <a:srgbClr val="4D4D4D"/>
        </a:dk2>
        <a:lt2>
          <a:srgbClr val="05D3FC"/>
        </a:lt2>
        <a:accent1>
          <a:srgbClr val="1C50E2"/>
        </a:accent1>
        <a:accent2>
          <a:srgbClr val="5E90FC"/>
        </a:accent2>
        <a:accent3>
          <a:srgbClr val="FFFFFF"/>
        </a:accent3>
        <a:accent4>
          <a:srgbClr val="404040"/>
        </a:accent4>
        <a:accent5>
          <a:srgbClr val="ABB3EE"/>
        </a:accent5>
        <a:accent6>
          <a:srgbClr val="5482E4"/>
        </a:accent6>
        <a:hlink>
          <a:srgbClr val="0390F5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 5">
        <a:dk1>
          <a:srgbClr val="4D4D4D"/>
        </a:dk1>
        <a:lt1>
          <a:srgbClr val="FFFFFF"/>
        </a:lt1>
        <a:dk2>
          <a:srgbClr val="4D4D4D"/>
        </a:dk2>
        <a:lt2>
          <a:srgbClr val="3268CC"/>
        </a:lt2>
        <a:accent1>
          <a:srgbClr val="2992D3"/>
        </a:accent1>
        <a:accent2>
          <a:srgbClr val="14ACEB"/>
        </a:accent2>
        <a:accent3>
          <a:srgbClr val="FFFFFF"/>
        </a:accent3>
        <a:accent4>
          <a:srgbClr val="404040"/>
        </a:accent4>
        <a:accent5>
          <a:srgbClr val="ACC7E6"/>
        </a:accent5>
        <a:accent6>
          <a:srgbClr val="119BD5"/>
        </a:accent6>
        <a:hlink>
          <a:srgbClr val="5CB9FD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 6">
        <a:dk1>
          <a:srgbClr val="4D4D4D"/>
        </a:dk1>
        <a:lt1>
          <a:srgbClr val="FFFFFF"/>
        </a:lt1>
        <a:dk2>
          <a:srgbClr val="4D4D4D"/>
        </a:dk2>
        <a:lt2>
          <a:srgbClr val="478EC6"/>
        </a:lt2>
        <a:accent1>
          <a:srgbClr val="5395C9"/>
        </a:accent1>
        <a:accent2>
          <a:srgbClr val="72A5D0"/>
        </a:accent2>
        <a:accent3>
          <a:srgbClr val="FFFFFF"/>
        </a:accent3>
        <a:accent4>
          <a:srgbClr val="404040"/>
        </a:accent4>
        <a:accent5>
          <a:srgbClr val="B3C8E1"/>
        </a:accent5>
        <a:accent6>
          <a:srgbClr val="6795BC"/>
        </a:accent6>
        <a:hlink>
          <a:srgbClr val="9FC1D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 7">
        <a:dk1>
          <a:srgbClr val="4D4D4D"/>
        </a:dk1>
        <a:lt1>
          <a:srgbClr val="FFFFFF"/>
        </a:lt1>
        <a:dk2>
          <a:srgbClr val="4D4D4D"/>
        </a:dk2>
        <a:lt2>
          <a:srgbClr val="478EC6"/>
        </a:lt2>
        <a:accent1>
          <a:srgbClr val="5395C9"/>
        </a:accent1>
        <a:accent2>
          <a:srgbClr val="72A5D0"/>
        </a:accent2>
        <a:accent3>
          <a:srgbClr val="FFFFFF"/>
        </a:accent3>
        <a:accent4>
          <a:srgbClr val="404040"/>
        </a:accent4>
        <a:accent5>
          <a:srgbClr val="B3C8E1"/>
        </a:accent5>
        <a:accent6>
          <a:srgbClr val="6795BC"/>
        </a:accent6>
        <a:hlink>
          <a:srgbClr val="DA0E19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 8">
        <a:dk1>
          <a:srgbClr val="4D4D4D"/>
        </a:dk1>
        <a:lt1>
          <a:srgbClr val="FFFFFF"/>
        </a:lt1>
        <a:dk2>
          <a:srgbClr val="4D4D4D"/>
        </a:dk2>
        <a:lt2>
          <a:srgbClr val="478EC6"/>
        </a:lt2>
        <a:accent1>
          <a:srgbClr val="5395C9"/>
        </a:accent1>
        <a:accent2>
          <a:srgbClr val="72A5D0"/>
        </a:accent2>
        <a:accent3>
          <a:srgbClr val="FFFFFF"/>
        </a:accent3>
        <a:accent4>
          <a:srgbClr val="404040"/>
        </a:accent4>
        <a:accent5>
          <a:srgbClr val="B3C8E1"/>
        </a:accent5>
        <a:accent6>
          <a:srgbClr val="6795BC"/>
        </a:accent6>
        <a:hlink>
          <a:srgbClr val="1961B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powerpoint-template</Template>
  <TotalTime>103</TotalTime>
  <Words>78</Words>
  <Application>Microsoft Office PowerPoint</Application>
  <PresentationFormat>Широкоэкранный</PresentationFormat>
  <Paragraphs>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Microsoft Sans Serif</vt:lpstr>
      <vt:lpstr>powerpoint-template</vt:lpstr>
      <vt:lpstr>Презентация PowerPoint</vt:lpstr>
      <vt:lpstr>Стандарт ARINC 653 </vt:lpstr>
      <vt:lpstr>Структура ОСРВ на базе ARINC 653</vt:lpstr>
      <vt:lpstr>Требования к изоляции из ARINC 653</vt:lpstr>
      <vt:lpstr>Планирование выполнения разделов</vt:lpstr>
      <vt:lpstr>Взаимодействие между разделами</vt:lpstr>
      <vt:lpstr>Обработка ошибок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Пчелкин Илья Игоревич</dc:creator>
  <cp:lastModifiedBy>Пчелкин Илья Игоревич</cp:lastModifiedBy>
  <cp:revision>2</cp:revision>
  <dcterms:created xsi:type="dcterms:W3CDTF">2026-04-01T11:27:26Z</dcterms:created>
  <dcterms:modified xsi:type="dcterms:W3CDTF">2026-04-01T13:10:54Z</dcterms:modified>
</cp:coreProperties>
</file>