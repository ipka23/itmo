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259" r:id="rId3"/>
    <p:sldId id="265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C0980B9-0AD2-1D42-BB92-459CE876B2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08000" y="200025"/>
            <a:ext cx="10363200" cy="704850"/>
          </a:xfrm>
          <a:effectLst>
            <a:outerShdw algn="ctr" rotWithShape="0">
              <a:schemeClr val="bg2"/>
            </a:outerShdw>
          </a:effectLst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altLang="ru-RU" noProof="0" dirty="0"/>
              <a:t>Образец заголовка</a:t>
            </a:r>
            <a:endParaRPr lang="en-US" altLang="ru-RU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DBE29-0C76-18CC-E12F-FD713C5F49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08000" y="762000"/>
            <a:ext cx="10363200" cy="685800"/>
          </a:xfrm>
          <a:effectLst>
            <a:outerShdw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altLang="ru-RU" noProof="0"/>
              <a:t>Образец подзаголовка</a:t>
            </a:r>
            <a:endParaRPr lang="en-US" altLang="ru-RU" noProof="0"/>
          </a:p>
        </p:txBody>
      </p:sp>
    </p:spTree>
    <p:extLst>
      <p:ext uri="{BB962C8B-B14F-4D97-AF65-F5344CB8AC3E}">
        <p14:creationId xmlns:p14="http://schemas.microsoft.com/office/powerpoint/2010/main" val="38858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F3FC77-C9E3-CB30-74F6-2CD33CE1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F0912B-6900-1368-6064-33DFF71E6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7543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221F12-A63B-205C-9CA1-DCCE87BA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7FAEB8-E842-4A3D-39EF-25E862F5D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50786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3DB684-1A64-F836-2A0D-414FD4387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F302CF-395A-9FD8-AE00-E906C6FFA4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2400" y="2590800"/>
            <a:ext cx="4775200" cy="3733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640880-51AC-8138-45B5-7C1128CF2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0" y="2590800"/>
            <a:ext cx="4775200" cy="3733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7105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E508CC-2A99-70C0-F063-C5A996331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84EC63-D8D2-AEFC-BC6C-AD8E9CB3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FC231E-F290-8E35-117A-947132A7F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12CB9BE-6001-8042-E723-AFD1878C2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62F126-219C-F9DD-2540-172FEB30A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2075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F4C0C-7143-6912-844D-872BE56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468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F4C0C-7143-6912-844D-872BE5686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17" y="150963"/>
            <a:ext cx="9753600" cy="715963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9301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455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7D704-611F-FB92-AA47-007DD7066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8742C1-3463-6CCF-ABB7-FB5D4B3D2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0B85D3-E33C-65BE-8A39-D1C9B3B1B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9930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781B8-61F9-9925-D71F-1BC772F5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1115FB3-E9F7-7C8E-382B-81CF3A25FC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D9BCF5-193B-4C12-5EDA-921A8E662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51254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387EB-965F-3B15-76E9-AC5DA114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7AB424-936A-BE78-8117-3C44F242D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766156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21EDEAA-B62B-0F7F-DCF7-BD7C5C640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37600" y="1600200"/>
            <a:ext cx="2438400" cy="4724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3E31F0-144C-F9FB-7230-E0740675D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2400" y="1600200"/>
            <a:ext cx="7112000" cy="4724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2302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C722CEE-C404-4F85-51AA-E082E4034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1600201"/>
            <a:ext cx="9753600" cy="71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en-US" altLang="ru-RU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BE9A62-FDBB-9C95-5FC7-0A819D806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2590800"/>
            <a:ext cx="97536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07395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705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2557F6-D070-5FC0-2661-21AE5EC78024}"/>
              </a:ext>
            </a:extLst>
          </p:cNvPr>
          <p:cNvSpPr txBox="1"/>
          <p:nvPr/>
        </p:nvSpPr>
        <p:spPr>
          <a:xfrm>
            <a:off x="1191768" y="82517"/>
            <a:ext cx="9607296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4000" b="1">
                <a:solidFill>
                  <a:srgbClr val="000000"/>
                </a:solidFill>
              </a:rPr>
              <a:t>Изоляция приложений в бортовых вычислительных системах по стандарту ARINC 653</a:t>
            </a:r>
            <a:endParaRPr lang="ru-RU" sz="4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73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70FB0C-1DFC-B53B-67DB-DA74DA38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>
                <a:solidFill>
                  <a:srgbClr val="000000"/>
                </a:solidFill>
              </a:rPr>
              <a:t>Стандарт </a:t>
            </a:r>
            <a:r>
              <a:rPr lang="en-US" sz="4000" dirty="0">
                <a:solidFill>
                  <a:srgbClr val="000000"/>
                </a:solidFill>
              </a:rPr>
              <a:t>ARINC 653 </a:t>
            </a:r>
            <a:endParaRPr lang="ru-RU" sz="4000" dirty="0">
              <a:solidFill>
                <a:srgbClr val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5B1FF4-2B5B-A303-D7CD-8A172B57AD41}"/>
              </a:ext>
            </a:extLst>
          </p:cNvPr>
          <p:cNvSpPr txBox="1"/>
          <p:nvPr/>
        </p:nvSpPr>
        <p:spPr>
          <a:xfrm>
            <a:off x="305192" y="2105561"/>
            <a:ext cx="57908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/>
              <a:t>ARINC 653 — это международный стандарт для операционных систем реального времени (ОСРВ), используемых в авионике. Он определяет интерфейс</a:t>
            </a:r>
            <a:r>
              <a:rPr lang="en-US" dirty="0"/>
              <a:t> (APEX) </a:t>
            </a:r>
            <a:r>
              <a:rPr lang="ru-RU" dirty="0"/>
              <a:t>между прикладным ПО и аппаратным обеспечением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F9894D-808A-1BB7-43A8-022937A8F309}"/>
              </a:ext>
            </a:extLst>
          </p:cNvPr>
          <p:cNvSpPr txBox="1"/>
          <p:nvPr/>
        </p:nvSpPr>
        <p:spPr>
          <a:xfrm>
            <a:off x="339877" y="4189059"/>
            <a:ext cx="4691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APEX (</a:t>
            </a:r>
            <a:r>
              <a:rPr lang="en-US" dirty="0" err="1"/>
              <a:t>APplication</a:t>
            </a:r>
            <a:r>
              <a:rPr lang="en-US" dirty="0"/>
              <a:t> </a:t>
            </a:r>
            <a:r>
              <a:rPr lang="en-US" dirty="0" err="1"/>
              <a:t>EXecutive</a:t>
            </a:r>
            <a:r>
              <a:rPr lang="en-US" dirty="0"/>
              <a:t>)</a:t>
            </a:r>
            <a:r>
              <a:rPr lang="ru-RU" dirty="0"/>
              <a:t> – это</a:t>
            </a:r>
            <a:r>
              <a:rPr lang="en-US" dirty="0"/>
              <a:t> </a:t>
            </a:r>
            <a:r>
              <a:rPr lang="ru-RU" dirty="0"/>
              <a:t>API для взаимодействия прикладного ПО и ОС в авионике.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96426B-3B76-DB3F-B6F8-693F5643BC85}"/>
              </a:ext>
            </a:extLst>
          </p:cNvPr>
          <p:cNvSpPr txBox="1"/>
          <p:nvPr/>
        </p:nvSpPr>
        <p:spPr>
          <a:xfrm>
            <a:off x="6096000" y="2370070"/>
            <a:ext cx="59923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/>
              <a:t>Основные концепции стандарта</a:t>
            </a:r>
            <a:r>
              <a:rPr lang="en-US" dirty="0"/>
              <a:t>:</a:t>
            </a:r>
            <a:endParaRPr lang="ru-RU" dirty="0"/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Раздел (</a:t>
            </a:r>
            <a:r>
              <a:rPr lang="ru-RU" dirty="0" err="1"/>
              <a:t>Partition</a:t>
            </a:r>
            <a:r>
              <a:rPr lang="ru-RU" dirty="0"/>
              <a:t>) </a:t>
            </a:r>
            <a:r>
              <a:rPr lang="en-US" dirty="0"/>
              <a:t>–</a:t>
            </a:r>
            <a:r>
              <a:rPr lang="ru-RU" dirty="0"/>
              <a:t> изолированная единица планирования ресурсов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b="1" dirty="0"/>
              <a:t> </a:t>
            </a:r>
            <a:r>
              <a:rPr lang="ru-RU" dirty="0"/>
              <a:t>Статическое распределение ресурсов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Детерминированное планирование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Взаимодействие разделов через каналы и порты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879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7B9C46-ABF5-40CF-41FA-AA631ABC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>
                <a:solidFill>
                  <a:srgbClr val="000000"/>
                </a:solidFill>
              </a:rPr>
              <a:t>Стандарт </a:t>
            </a:r>
            <a:r>
              <a:rPr lang="en-US" sz="4000" dirty="0">
                <a:solidFill>
                  <a:srgbClr val="000000"/>
                </a:solidFill>
              </a:rPr>
              <a:t>ARINC 653 </a:t>
            </a:r>
            <a:endParaRPr lang="ru-RU" sz="4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7679EA-B7C6-1527-B431-86F3DC5FE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340" y="1733289"/>
            <a:ext cx="5397572" cy="48365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385322-8219-4297-E389-70C8BAFA8F78}"/>
              </a:ext>
            </a:extLst>
          </p:cNvPr>
          <p:cNvSpPr txBox="1"/>
          <p:nvPr/>
        </p:nvSpPr>
        <p:spPr>
          <a:xfrm>
            <a:off x="515112" y="2153061"/>
            <a:ext cx="50901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Каждый раздел может находиться в одном из четырёх режимов:</a:t>
            </a:r>
          </a:p>
          <a:p>
            <a:pPr algn="just"/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COLD_START </a:t>
            </a:r>
            <a:r>
              <a:rPr lang="ru-RU" dirty="0"/>
              <a:t>– инициализация, создание объектов ОС.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WARM_START </a:t>
            </a:r>
            <a:r>
              <a:rPr lang="ru-RU" dirty="0"/>
              <a:t>– сохранение контекста/данных в памяти.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NORMAL</a:t>
            </a:r>
            <a:r>
              <a:rPr lang="ru-RU" dirty="0"/>
              <a:t> – рабочий режим, активен планировщик процессов.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IDLE</a:t>
            </a:r>
            <a:r>
              <a:rPr lang="ru-RU" dirty="0"/>
              <a:t> – процессы не выполняются, ресурсы и временные окна сохраняются.</a:t>
            </a:r>
          </a:p>
        </p:txBody>
      </p:sp>
    </p:spTree>
    <p:extLst>
      <p:ext uri="{BB962C8B-B14F-4D97-AF65-F5344CB8AC3E}">
        <p14:creationId xmlns:p14="http://schemas.microsoft.com/office/powerpoint/2010/main" val="41428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D6A1E-7ACE-8F40-BB32-EA340E90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/>
              <a:t>Структура ОСРВ на базе ARINC 653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A4696FC-DA6A-7FF1-C0AC-4DD64E77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74" y="1639689"/>
            <a:ext cx="10864051" cy="450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01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998F8-1D77-5182-BFF1-92B684431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61" y="233259"/>
            <a:ext cx="9753600" cy="715963"/>
          </a:xfrm>
        </p:spPr>
        <p:txBody>
          <a:bodyPr/>
          <a:lstStyle/>
          <a:p>
            <a:r>
              <a:rPr lang="ru-RU" sz="4000" dirty="0"/>
              <a:t>Требования к изоляции из ARINC 653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F9577-95A0-B4E7-EB05-5B0C199C1909}"/>
              </a:ext>
            </a:extLst>
          </p:cNvPr>
          <p:cNvSpPr txBox="1"/>
          <p:nvPr/>
        </p:nvSpPr>
        <p:spPr>
          <a:xfrm>
            <a:off x="163461" y="1289953"/>
            <a:ext cx="546188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ru-RU" dirty="0"/>
          </a:p>
          <a:p>
            <a:pPr algn="l"/>
            <a:r>
              <a:rPr lang="ru-RU" dirty="0"/>
              <a:t>Требования сформулированы в DO-248 и CAST-32A:</a:t>
            </a:r>
          </a:p>
          <a:p>
            <a:pPr algn="l"/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Раздел не может повредить области памяти кода, данных или ввода-вывода других разделов.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Раздел не может использовать больше разделяемых ресурсов, чем ему было выделено.</a:t>
            </a:r>
          </a:p>
          <a:p>
            <a:pPr algn="l"/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Сбои в одном разделе не могут приводить к негативным последствиям в других разделах.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Раздел не может выполняться на процессорном ядре более длительное время, чем ему было выделено, вне зависимости от активности или неактивности других разделов на других процессорных ядрах.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88020C-DEC0-E0C7-51FF-4333E1665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20" y="2318389"/>
            <a:ext cx="6093219" cy="264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999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0133A-34CD-740B-6FDD-8E2FD573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61" y="260691"/>
            <a:ext cx="9199995" cy="715963"/>
          </a:xfrm>
        </p:spPr>
        <p:txBody>
          <a:bodyPr/>
          <a:lstStyle/>
          <a:p>
            <a:r>
              <a:rPr lang="ru-RU" sz="4000" dirty="0"/>
              <a:t>Планирование выполнения разделов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D029D-D578-58FF-ADD4-CCDDBCAD3FC9}"/>
              </a:ext>
            </a:extLst>
          </p:cNvPr>
          <p:cNvSpPr txBox="1"/>
          <p:nvPr/>
        </p:nvSpPr>
        <p:spPr>
          <a:xfrm>
            <a:off x="139077" y="2046506"/>
            <a:ext cx="439445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Основной временной кадр (</a:t>
            </a:r>
            <a:r>
              <a:rPr lang="en-US" dirty="0"/>
              <a:t>Major Time Frame)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Временное окно раздела (</a:t>
            </a:r>
            <a:r>
              <a:rPr lang="ru-RU" dirty="0" err="1"/>
              <a:t>Partition</a:t>
            </a:r>
            <a:r>
              <a:rPr lang="ru-RU" dirty="0"/>
              <a:t> Time </a:t>
            </a:r>
            <a:r>
              <a:rPr lang="ru-RU" dirty="0" err="1"/>
              <a:t>Window</a:t>
            </a:r>
            <a:r>
              <a:rPr lang="ru-RU" dirty="0"/>
              <a:t>)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Детерминированное планирование </a:t>
            </a:r>
          </a:p>
          <a:p>
            <a:pPr algn="l"/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Исключительный доступ</a:t>
            </a:r>
            <a:r>
              <a:rPr lang="en-US" dirty="0"/>
              <a:t> </a:t>
            </a:r>
            <a:r>
              <a:rPr lang="ru-RU" dirty="0"/>
              <a:t>доступ к ядру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Статическая конфигурация расписания</a:t>
            </a:r>
          </a:p>
          <a:p>
            <a:pPr algn="l"/>
            <a:endParaRPr lang="en-US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595817E-4C65-D378-7798-422D03AD5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537" y="2360618"/>
            <a:ext cx="7587386" cy="297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47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DBDEC-922D-C0E2-98EF-9967641A3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97" y="150963"/>
            <a:ext cx="9753600" cy="715963"/>
          </a:xfrm>
        </p:spPr>
        <p:txBody>
          <a:bodyPr/>
          <a:lstStyle/>
          <a:p>
            <a:r>
              <a:rPr lang="ru-RU" dirty="0"/>
              <a:t>Взаимодействие между разделами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2EB02B-4830-C454-9838-065BBF1042ED}"/>
              </a:ext>
            </a:extLst>
          </p:cNvPr>
          <p:cNvSpPr txBox="1"/>
          <p:nvPr/>
        </p:nvSpPr>
        <p:spPr>
          <a:xfrm>
            <a:off x="6545187" y="2274838"/>
            <a:ext cx="54742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/>
              <a:t>Режимы передачи данных:</a:t>
            </a:r>
          </a:p>
          <a:p>
            <a:pPr algn="l"/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b="1" dirty="0"/>
              <a:t>SAMPLING</a:t>
            </a:r>
            <a:r>
              <a:rPr lang="ru-RU" dirty="0"/>
              <a:t> (без очереди): новое сообщение всегда заменяет старое; получатель всегда считывает только последние данные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b="1" dirty="0"/>
              <a:t>QUEUING</a:t>
            </a:r>
            <a:r>
              <a:rPr lang="ru-RU" dirty="0"/>
              <a:t> (с очередью): сообщения накапливаются в очереди; каждое отправленное сообщение доставляется один раз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F477E2-2C44-6583-A8D5-DF2E5CF44A06}"/>
              </a:ext>
            </a:extLst>
          </p:cNvPr>
          <p:cNvSpPr txBox="1"/>
          <p:nvPr/>
        </p:nvSpPr>
        <p:spPr>
          <a:xfrm>
            <a:off x="382131" y="1887885"/>
            <a:ext cx="61630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Разделы взаимодействуют между собой исключительно путем передачи сообщений через каналы</a:t>
            </a:r>
          </a:p>
          <a:p>
            <a:pPr algn="l"/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Доступ к каналам осуществляется через порты, которые описываются при конфигурировании системы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ОСРВ отвечает за передачу сообщений от отправителя к нужному порту, сохраняя их целостность и надёжно доставляя без искажений.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Благодаря интерфейсу APEX, прикладное ПО работает с логическими портами одинаково, независимо от того, находится ли получатель на том же процессоре или доступен через бортовую сеть</a:t>
            </a:r>
          </a:p>
        </p:txBody>
      </p:sp>
    </p:spTree>
    <p:extLst>
      <p:ext uri="{BB962C8B-B14F-4D97-AF65-F5344CB8AC3E}">
        <p14:creationId xmlns:p14="http://schemas.microsoft.com/office/powerpoint/2010/main" val="3522239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ED28B-FE30-D980-02BD-B3ABDF165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ошибок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A924E0-7928-D9DD-B9E3-891E5590B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811" y="1645918"/>
            <a:ext cx="6924528" cy="50611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1A9177-C608-9340-6136-E93B4871F69C}"/>
              </a:ext>
            </a:extLst>
          </p:cNvPr>
          <p:cNvSpPr txBox="1"/>
          <p:nvPr/>
        </p:nvSpPr>
        <p:spPr>
          <a:xfrm>
            <a:off x="647835" y="1412635"/>
            <a:ext cx="4299069" cy="5098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Монитор состояния</a:t>
            </a:r>
          </a:p>
          <a:p>
            <a:endParaRPr lang="ru-RU" sz="2800" b="1" dirty="0"/>
          </a:p>
          <a:p>
            <a:pPr algn="l"/>
            <a:r>
              <a:rPr lang="ru-RU" b="1" dirty="0"/>
              <a:t>Определения уровня ошибки</a:t>
            </a:r>
            <a:r>
              <a:rPr lang="en-US" b="1" dirty="0"/>
              <a:t>: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PROCESS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PARTITION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MODULE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ru-RU" b="1" dirty="0"/>
              <a:t>Реагирование</a:t>
            </a:r>
            <a:r>
              <a:rPr lang="en-US" b="1" dirty="0"/>
              <a:t>:</a:t>
            </a:r>
            <a:endParaRPr lang="ru-RU" b="1" dirty="0"/>
          </a:p>
          <a:p>
            <a:pPr algn="l"/>
            <a:endParaRPr lang="en-US" b="1" dirty="0"/>
          </a:p>
          <a:p>
            <a:pPr algn="l"/>
            <a:r>
              <a:rPr lang="ru-RU" dirty="0"/>
              <a:t>Механизм реагирования на ошибки уровня процесса</a:t>
            </a:r>
            <a:r>
              <a:rPr lang="en-US" dirty="0"/>
              <a:t>/</a:t>
            </a:r>
            <a:r>
              <a:rPr lang="ru-RU" dirty="0"/>
              <a:t>раздела</a:t>
            </a:r>
            <a:r>
              <a:rPr lang="en-US" dirty="0"/>
              <a:t>/</a:t>
            </a:r>
            <a:r>
              <a:rPr lang="ru-RU" dirty="0"/>
              <a:t>модуля</a:t>
            </a:r>
          </a:p>
          <a:p>
            <a:pPr algn="l"/>
            <a:endParaRPr lang="ru-RU" dirty="0"/>
          </a:p>
          <a:p>
            <a:pPr algn="l"/>
            <a:endParaRPr lang="ru-RU" dirty="0"/>
          </a:p>
          <a:p>
            <a:pPr algn="l"/>
            <a:r>
              <a:rPr lang="ru-RU" b="1" dirty="0"/>
              <a:t>Действия по восстановлению:</a:t>
            </a:r>
          </a:p>
          <a:p>
            <a:pPr algn="l"/>
            <a:endParaRPr lang="ru-RU" b="1" dirty="0"/>
          </a:p>
          <a:p>
            <a:pPr algn="l"/>
            <a:r>
              <a:rPr lang="ru-RU" dirty="0"/>
              <a:t>Действия по восстановлению при ошибках уровня процесса</a:t>
            </a:r>
            <a:r>
              <a:rPr lang="en-US" dirty="0"/>
              <a:t>/</a:t>
            </a:r>
            <a:r>
              <a:rPr lang="ru-RU" dirty="0"/>
              <a:t>раздела</a:t>
            </a:r>
            <a:r>
              <a:rPr lang="en-US" dirty="0"/>
              <a:t>/</a:t>
            </a:r>
            <a:r>
              <a:rPr lang="ru-RU" dirty="0"/>
              <a:t>модуля</a:t>
            </a:r>
          </a:p>
          <a:p>
            <a:pPr algn="l"/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E9D9770-8842-BF57-F913-6F1E4E814C0E}"/>
              </a:ext>
            </a:extLst>
          </p:cNvPr>
          <p:cNvSpPr/>
          <p:nvPr/>
        </p:nvSpPr>
        <p:spPr bwMode="auto">
          <a:xfrm>
            <a:off x="566928" y="1344168"/>
            <a:ext cx="4464189" cy="5167299"/>
          </a:xfrm>
          <a:prstGeom prst="rect">
            <a:avLst/>
          </a:prstGeom>
          <a:noFill/>
          <a:ln w="38100">
            <a:solidFill>
              <a:schemeClr val="tx1"/>
            </a:solidFill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2E8FCE5-DA6B-C6D9-5565-488F97B70618}"/>
              </a:ext>
            </a:extLst>
          </p:cNvPr>
          <p:cNvSpPr/>
          <p:nvPr/>
        </p:nvSpPr>
        <p:spPr bwMode="auto">
          <a:xfrm flipV="1">
            <a:off x="566928" y="1344167"/>
            <a:ext cx="4464189" cy="603503"/>
          </a:xfrm>
          <a:prstGeom prst="rect">
            <a:avLst/>
          </a:prstGeom>
          <a:noFill/>
          <a:ln w="38100">
            <a:solidFill>
              <a:schemeClr val="tx1"/>
            </a:solidFill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582433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-templat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owerpoint-template 1">
        <a:dk1>
          <a:srgbClr val="4D4D4D"/>
        </a:dk1>
        <a:lt1>
          <a:srgbClr val="FFFFFF"/>
        </a:lt1>
        <a:dk2>
          <a:srgbClr val="4D4D4D"/>
        </a:dk2>
        <a:lt2>
          <a:srgbClr val="800000"/>
        </a:lt2>
        <a:accent1>
          <a:srgbClr val="FF9933"/>
        </a:accent1>
        <a:accent2>
          <a:srgbClr val="009900"/>
        </a:accent2>
        <a:accent3>
          <a:srgbClr val="FFFFFF"/>
        </a:accent3>
        <a:accent4>
          <a:srgbClr val="404040"/>
        </a:accent4>
        <a:accent5>
          <a:srgbClr val="FFCAAD"/>
        </a:accent5>
        <a:accent6>
          <a:srgbClr val="008A00"/>
        </a:accent6>
        <a:hlink>
          <a:srgbClr val="33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2">
        <a:dk1>
          <a:srgbClr val="4D4D4D"/>
        </a:dk1>
        <a:lt1>
          <a:srgbClr val="FFFFFF"/>
        </a:lt1>
        <a:dk2>
          <a:srgbClr val="4D4D4D"/>
        </a:dk2>
        <a:lt2>
          <a:srgbClr val="0C209B"/>
        </a:lt2>
        <a:accent1>
          <a:srgbClr val="2167BF"/>
        </a:accent1>
        <a:accent2>
          <a:srgbClr val="C60C0D"/>
        </a:accent2>
        <a:accent3>
          <a:srgbClr val="FFFFFF"/>
        </a:accent3>
        <a:accent4>
          <a:srgbClr val="404040"/>
        </a:accent4>
        <a:accent5>
          <a:srgbClr val="ABB8DC"/>
        </a:accent5>
        <a:accent6>
          <a:srgbClr val="B30A0B"/>
        </a:accent6>
        <a:hlink>
          <a:srgbClr val="1FAAE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3">
        <a:dk1>
          <a:srgbClr val="4D4D4D"/>
        </a:dk1>
        <a:lt1>
          <a:srgbClr val="FFFFFF"/>
        </a:lt1>
        <a:dk2>
          <a:srgbClr val="4D4D4D"/>
        </a:dk2>
        <a:lt2>
          <a:srgbClr val="05D3FC"/>
        </a:lt2>
        <a:accent1>
          <a:srgbClr val="1C50E2"/>
        </a:accent1>
        <a:accent2>
          <a:srgbClr val="0390F5"/>
        </a:accent2>
        <a:accent3>
          <a:srgbClr val="FFFFFF"/>
        </a:accent3>
        <a:accent4>
          <a:srgbClr val="404040"/>
        </a:accent4>
        <a:accent5>
          <a:srgbClr val="ABB3EE"/>
        </a:accent5>
        <a:accent6>
          <a:srgbClr val="0282DE"/>
        </a:accent6>
        <a:hlink>
          <a:srgbClr val="5E9AF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4">
        <a:dk1>
          <a:srgbClr val="4D4D4D"/>
        </a:dk1>
        <a:lt1>
          <a:srgbClr val="FFFFFF"/>
        </a:lt1>
        <a:dk2>
          <a:srgbClr val="4D4D4D"/>
        </a:dk2>
        <a:lt2>
          <a:srgbClr val="05D3FC"/>
        </a:lt2>
        <a:accent1>
          <a:srgbClr val="1C50E2"/>
        </a:accent1>
        <a:accent2>
          <a:srgbClr val="5E90FC"/>
        </a:accent2>
        <a:accent3>
          <a:srgbClr val="FFFFFF"/>
        </a:accent3>
        <a:accent4>
          <a:srgbClr val="404040"/>
        </a:accent4>
        <a:accent5>
          <a:srgbClr val="ABB3EE"/>
        </a:accent5>
        <a:accent6>
          <a:srgbClr val="5482E4"/>
        </a:accent6>
        <a:hlink>
          <a:srgbClr val="0390F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5">
        <a:dk1>
          <a:srgbClr val="4D4D4D"/>
        </a:dk1>
        <a:lt1>
          <a:srgbClr val="FFFFFF"/>
        </a:lt1>
        <a:dk2>
          <a:srgbClr val="4D4D4D"/>
        </a:dk2>
        <a:lt2>
          <a:srgbClr val="3268CC"/>
        </a:lt2>
        <a:accent1>
          <a:srgbClr val="2992D3"/>
        </a:accent1>
        <a:accent2>
          <a:srgbClr val="14ACEB"/>
        </a:accent2>
        <a:accent3>
          <a:srgbClr val="FFFFFF"/>
        </a:accent3>
        <a:accent4>
          <a:srgbClr val="404040"/>
        </a:accent4>
        <a:accent5>
          <a:srgbClr val="ACC7E6"/>
        </a:accent5>
        <a:accent6>
          <a:srgbClr val="119BD5"/>
        </a:accent6>
        <a:hlink>
          <a:srgbClr val="5CB9FD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6">
        <a:dk1>
          <a:srgbClr val="4D4D4D"/>
        </a:dk1>
        <a:lt1>
          <a:srgbClr val="FFFFFF"/>
        </a:lt1>
        <a:dk2>
          <a:srgbClr val="4D4D4D"/>
        </a:dk2>
        <a:lt2>
          <a:srgbClr val="478EC6"/>
        </a:lt2>
        <a:accent1>
          <a:srgbClr val="5395C9"/>
        </a:accent1>
        <a:accent2>
          <a:srgbClr val="72A5D0"/>
        </a:accent2>
        <a:accent3>
          <a:srgbClr val="FFFFFF"/>
        </a:accent3>
        <a:accent4>
          <a:srgbClr val="404040"/>
        </a:accent4>
        <a:accent5>
          <a:srgbClr val="B3C8E1"/>
        </a:accent5>
        <a:accent6>
          <a:srgbClr val="6795BC"/>
        </a:accent6>
        <a:hlink>
          <a:srgbClr val="9FC1D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7">
        <a:dk1>
          <a:srgbClr val="4D4D4D"/>
        </a:dk1>
        <a:lt1>
          <a:srgbClr val="FFFFFF"/>
        </a:lt1>
        <a:dk2>
          <a:srgbClr val="4D4D4D"/>
        </a:dk2>
        <a:lt2>
          <a:srgbClr val="478EC6"/>
        </a:lt2>
        <a:accent1>
          <a:srgbClr val="5395C9"/>
        </a:accent1>
        <a:accent2>
          <a:srgbClr val="72A5D0"/>
        </a:accent2>
        <a:accent3>
          <a:srgbClr val="FFFFFF"/>
        </a:accent3>
        <a:accent4>
          <a:srgbClr val="404040"/>
        </a:accent4>
        <a:accent5>
          <a:srgbClr val="B3C8E1"/>
        </a:accent5>
        <a:accent6>
          <a:srgbClr val="6795BC"/>
        </a:accent6>
        <a:hlink>
          <a:srgbClr val="DA0E1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 8">
        <a:dk1>
          <a:srgbClr val="4D4D4D"/>
        </a:dk1>
        <a:lt1>
          <a:srgbClr val="FFFFFF"/>
        </a:lt1>
        <a:dk2>
          <a:srgbClr val="4D4D4D"/>
        </a:dk2>
        <a:lt2>
          <a:srgbClr val="478EC6"/>
        </a:lt2>
        <a:accent1>
          <a:srgbClr val="5395C9"/>
        </a:accent1>
        <a:accent2>
          <a:srgbClr val="72A5D0"/>
        </a:accent2>
        <a:accent3>
          <a:srgbClr val="FFFFFF"/>
        </a:accent3>
        <a:accent4>
          <a:srgbClr val="404040"/>
        </a:accent4>
        <a:accent5>
          <a:srgbClr val="B3C8E1"/>
        </a:accent5>
        <a:accent6>
          <a:srgbClr val="6795BC"/>
        </a:accent6>
        <a:hlink>
          <a:srgbClr val="1961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powerpoint-template</Template>
  <TotalTime>1420</TotalTime>
  <Words>407</Words>
  <Application>Microsoft Office PowerPoint</Application>
  <PresentationFormat>Широкоэкранный</PresentationFormat>
  <Paragraphs>76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Microsoft Sans Serif</vt:lpstr>
      <vt:lpstr>powerpoint-template</vt:lpstr>
      <vt:lpstr>Презентация PowerPoint</vt:lpstr>
      <vt:lpstr>Стандарт ARINC 653 </vt:lpstr>
      <vt:lpstr>Стандарт ARINC 653 </vt:lpstr>
      <vt:lpstr>Структура ОСРВ на базе ARINC 653</vt:lpstr>
      <vt:lpstr>Требования к изоляции из ARINC 653</vt:lpstr>
      <vt:lpstr>Планирование выполнения разделов</vt:lpstr>
      <vt:lpstr>Взаимодействие между разделами</vt:lpstr>
      <vt:lpstr>Обработка ошибок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Пчелкин Илья Игоревич</dc:creator>
  <cp:lastModifiedBy>Пчелкин Илья Игоревич</cp:lastModifiedBy>
  <cp:revision>5</cp:revision>
  <dcterms:created xsi:type="dcterms:W3CDTF">2026-04-01T11:27:26Z</dcterms:created>
  <dcterms:modified xsi:type="dcterms:W3CDTF">2026-04-02T19:31:41Z</dcterms:modified>
</cp:coreProperties>
</file>